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4.png"/><Relationship Id="rId7" Type="http://schemas.openxmlformats.org/officeDocument/2006/relationships/image" Target="../media/image-6-5.svg"/><Relationship Id="rId8" Type="http://schemas.openxmlformats.org/officeDocument/2006/relationships/image" Target="../media/image-6-4.png"/><Relationship Id="rId9" Type="http://schemas.openxmlformats.org/officeDocument/2006/relationships/image" Target="../media/image-6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0015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Brazilian Olist E-Commerce Performance &amp; Delivery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555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Data Analytics Project — MySQL · Python · Power BI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70611"/>
            <a:ext cx="1357080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627265"/>
            <a:ext cx="17398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99,441 ORDERS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113009" y="4570611"/>
            <a:ext cx="1888681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26413" y="4627265"/>
            <a:ext cx="227145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RELATIONAL TABLES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096144" y="4570611"/>
            <a:ext cx="186278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9548" y="4627265"/>
            <a:ext cx="22455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 2016 – OCT 2018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731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Executive Summary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33360" y="1413470"/>
            <a:ext cx="629686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builds an analytics pipeline — from raw data to interactive dashboard — to help Olist understand what drives delivery performance and customer satisfaction. The pipeline moves through three layers: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(storage, validation),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(cleaning, feature engineering, star-schema modeling), and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(interactive visualization with DAX KPIs).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391098"/>
            <a:ext cx="3056853" cy="1658441"/>
          </a:xfrm>
          <a:prstGeom prst="roundRect">
            <a:avLst>
              <a:gd name="adj" fmla="val 1683"/>
            </a:avLst>
          </a:prstGeom>
          <a:solidFill>
            <a:srgbClr val="EDEBE3"/>
          </a:solidFill>
          <a:ln/>
        </p:spPr>
      </p:sp>
      <p:sp>
        <p:nvSpPr>
          <p:cNvPr id="6" name="Text 3"/>
          <p:cNvSpPr/>
          <p:nvPr/>
        </p:nvSpPr>
        <p:spPr>
          <a:xfrm>
            <a:off x="5419391" y="3577134"/>
            <a:ext cx="268479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Finding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19391" y="3977680"/>
            <a:ext cx="268479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delay is strongly associated with lower review scores.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3367" y="3391098"/>
            <a:ext cx="3056853" cy="1658441"/>
          </a:xfrm>
          <a:prstGeom prst="roundRect">
            <a:avLst>
              <a:gd name="adj" fmla="val 1683"/>
            </a:avLst>
          </a:prstGeom>
          <a:solidFill>
            <a:srgbClr val="EDEBE3"/>
          </a:solidFill>
          <a:ln/>
        </p:spPr>
      </p:sp>
      <p:sp>
        <p:nvSpPr>
          <p:cNvPr id="9" name="Text 6"/>
          <p:cNvSpPr/>
          <p:nvPr/>
        </p:nvSpPr>
        <p:spPr>
          <a:xfrm>
            <a:off x="8659397" y="3577134"/>
            <a:ext cx="268479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Retention Gap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59397" y="3977680"/>
            <a:ext cx="26847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~3% of customers are repeat buyers.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5232698"/>
            <a:ext cx="6296860" cy="1067891"/>
          </a:xfrm>
          <a:prstGeom prst="roundRect">
            <a:avLst>
              <a:gd name="adj" fmla="val 2614"/>
            </a:avLst>
          </a:prstGeom>
          <a:solidFill>
            <a:srgbClr val="EDEBE3"/>
          </a:solidFill>
          <a:ln/>
        </p:spPr>
      </p:sp>
      <p:sp>
        <p:nvSpPr>
          <p:cNvPr id="12" name="Text 9"/>
          <p:cNvSpPr/>
          <p:nvPr/>
        </p:nvSpPr>
        <p:spPr>
          <a:xfrm>
            <a:off x="5419391" y="5418733"/>
            <a:ext cx="5924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Actionable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19391" y="5819279"/>
            <a:ext cx="59247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findings point to concrete levers for the business.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64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Problem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72" y="2298700"/>
            <a:ext cx="5254097" cy="29773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0084" y="1460103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Hypothesis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90084" y="1853406"/>
            <a:ext cx="3546485" cy="144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connects independent sellers to major retail channels across Brazil. Leadership flagged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declining review scores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unpredictable delivery performance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core hypothesis: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 delays drive poor reviews and customer churn.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90084" y="3442494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Questions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90084" y="3835797"/>
            <a:ext cx="3546485" cy="236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overall sales and revenue trends?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% of orders are delivered late, and where/why?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delivery delay correlate with review scores?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% of customers return to buy again?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states, categories, and sellers need attention?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670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Overview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88566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Olist dataset consists of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 relational CSV files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normalized around a central orders table.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11834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Rows (approx.)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99,441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identity and location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99,441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 lifecycle and timestamps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order_items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112,650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Line-item products per order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order_payments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103,886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Payment method and installments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order_reviews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99,224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satisfaction scores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32,951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catalog and attributes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sellers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3,095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Seller identity and location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geolocation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1,000,163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Zip code to lat/lng mapping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category_translation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Portuguese → English category names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03263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Tools &amp; Technology Stack</a:t>
            </a:r>
            <a:endParaRPr lang="en-US" sz="3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471315"/>
            <a:ext cx="856435" cy="10278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970" y="1642566"/>
            <a:ext cx="528525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MySQL 8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6244970" y="2003227"/>
            <a:ext cx="528525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design, storage, SQL analysis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2499122"/>
            <a:ext cx="856435" cy="10278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44970" y="2670373"/>
            <a:ext cx="528525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Python (pandas)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6244970" y="3031034"/>
            <a:ext cx="528525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feature engineering, star-schema modeling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526929"/>
            <a:ext cx="856435" cy="10278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4970" y="3698180"/>
            <a:ext cx="528525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244970" y="4058841"/>
            <a:ext cx="528525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dashboard, DAX measures, data modeling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233360" y="4729361"/>
            <a:ext cx="6296860" cy="1425377"/>
          </a:xfrm>
          <a:prstGeom prst="roundRect">
            <a:avLst>
              <a:gd name="adj" fmla="val 1803"/>
            </a:avLst>
          </a:prstGeom>
          <a:solidFill>
            <a:srgbClr val="E3E3E8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608" y="4955183"/>
            <a:ext cx="214109" cy="1712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89964" y="4927302"/>
            <a:ext cx="5569009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order?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lives in a relational database first (as in a real company); SQL extracts and validates only the needed data; Python performs flexible cleaning and feature engineering; Power BI is strictly a presentation layer receiving already-clean, modeled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03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1 — MySQL: Foundation &amp; Exploration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93354"/>
            <a:ext cx="6958731" cy="39433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9166" y="1232297"/>
            <a:ext cx="3607305" cy="10414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16684" y="1369020"/>
            <a:ext cx="328306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116684" y="1644154"/>
            <a:ext cx="328306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normalized tables with primary/foreign keys and indexes on frequently joined columns. Foreign key enforcement caught data integrity issues early.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9166" y="2355155"/>
            <a:ext cx="3607305" cy="12058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16684" y="2491879"/>
            <a:ext cx="328306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116684" y="2767013"/>
            <a:ext cx="3283066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Switched from slow Workbench wizard to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bulk loader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(SQLAlchemy chunked inserts) — all 9 tables loaded in minutes. Deduplicated order_reviews on review_id + order_id before insert.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9166" y="3642320"/>
            <a:ext cx="3607305" cy="12058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16684" y="3779044"/>
            <a:ext cx="328306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Quality Checks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116684" y="4054177"/>
            <a:ext cx="3283066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queries confirmed row counts, no orphaned foreign keys, no duplicate primary keys, and profiled NULLs across delivery-date and review-comment columns.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9166" y="4929485"/>
            <a:ext cx="3607305" cy="12058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16684" y="5066209"/>
            <a:ext cx="328306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Analysis Queries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8116684" y="5341342"/>
            <a:ext cx="3283066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SQL queries across four themes — Sales &amp; Revenue, Delivery &amp; Logistics, Customer Satisfaction, Customer Behavior — including the core hypothesis test: average review score bucketed by delivery delay range.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639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2 — Python: Cleaning, Feature Engineering &amp; Modeling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80282"/>
            <a:ext cx="6938590" cy="3931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6570" y="1354435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66570" y="1700411"/>
            <a:ext cx="3569901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delivery_delay_days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actual vs. estimated (negative = early)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is_late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boolean flag for delayed delivery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order_to_delivery_days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total fulfillment time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approval_time_days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payment approval latency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is_delivered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delivery-completion flag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66570" y="3449241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Star Schema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66570" y="3795216"/>
            <a:ext cx="3569901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fact_orders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dim_customers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dim_products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dim_sellers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dim_date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BI consumption. Debugged a row-count inflation bug (99,441 → 99,701) caused by incorrect dedup key in dim_customers — fixed by deduplicating strictly on customer_unique_id.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6570" y="5172571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66570" y="5518547"/>
            <a:ext cx="356990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matplotlib to confirm review scores decline as delivery delay increases — the seed for the dashboard's key visual.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959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3 — Power BI: Interactive Dashboard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6770"/>
            <a:ext cx="6956251" cy="39419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3829" y="2810272"/>
            <a:ext cx="3602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Pages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33829" y="3094038"/>
            <a:ext cx="3602642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pages share slicers for order status, month, state, and product, enabling cross-filtered drill-down.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61475" y="5280620"/>
            <a:ext cx="3566031" cy="1051322"/>
          </a:xfrm>
          <a:prstGeom prst="roundRect">
            <a:avLst>
              <a:gd name="adj" fmla="val 1812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521" y="5426670"/>
            <a:ext cx="327393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Page 1 — Sales Overview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7521" y="5676305"/>
            <a:ext cx="3273938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Revenue, orders, AOV, review score KPIs with MoM growth; monthly trends; top 10 categories; on-time delivery SLA gauge.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12832" y="5280620"/>
            <a:ext cx="3566031" cy="1051322"/>
          </a:xfrm>
          <a:prstGeom prst="roundRect">
            <a:avLst>
              <a:gd name="adj" fmla="val 1812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58878" y="5426670"/>
            <a:ext cx="327393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Page 2 — Delivery &amp; Logistics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58878" y="5676305"/>
            <a:ext cx="3273938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delivery %, review score by delay bucket (core hypothesis chart), state-level latency, promised vs. actual delivery.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64189" y="5280620"/>
            <a:ext cx="3566031" cy="1051322"/>
          </a:xfrm>
          <a:prstGeom prst="roundRect">
            <a:avLst>
              <a:gd name="adj" fmla="val 1812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10235" y="5426670"/>
            <a:ext cx="327393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Page 3 — Market &amp; Customer Intelligence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10235" y="5676305"/>
            <a:ext cx="3273938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customer %, regional demand vs. seller presence, category performance table with conditional formatting.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Findings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27559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727900" y="1460798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26214" y="1488380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Delivery delay → lower reviews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6214" y="1864916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On-time/early orders average meaningfully higher scores; effect most pronounced at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8+ days late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471738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8" name="Text 6"/>
          <p:cNvSpPr/>
          <p:nvPr/>
        </p:nvSpPr>
        <p:spPr>
          <a:xfrm>
            <a:off x="727900" y="2504976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226214" y="2532559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Only ~3.1% repeat buyers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6214" y="2909094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vast majority purchase once and don't return — 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retention opportunity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just an acquisition problem.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3515916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727900" y="354915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26214" y="3576737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Delivery varies by state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6214" y="3953272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like AP, RR, AM show disproportionately higher latency —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bottlenecks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a uniform issue.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4560094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16" name="Text 14"/>
          <p:cNvSpPr/>
          <p:nvPr/>
        </p:nvSpPr>
        <p:spPr>
          <a:xfrm>
            <a:off x="727900" y="4593332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226214" y="4620915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Freight scales with weight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6214" y="4997450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Heavier categories carry materially higher shipping cost burden, relevant to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margin analysis by category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1475" y="5604272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20" name="Text 18"/>
          <p:cNvSpPr/>
          <p:nvPr/>
        </p:nvSpPr>
        <p:spPr>
          <a:xfrm>
            <a:off x="727900" y="563751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1226214" y="5665093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93.2% on-time delivery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26214" y="6041628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under the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95% internal SLA target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small but measurable gap with a clear numeric target to close.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64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Recommendations, Challenges &amp; Skills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613694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Recommendations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2046486"/>
            <a:ext cx="5221851" cy="171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logistics review in high-latency states (AP, RR, AM) rather than blanket process changes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post-purchase retention initiatives given the ~3% repeat rate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high-delay, high-negative-review categories for seller-level SLA enforcement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392618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Challenges Solved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4358977"/>
            <a:ext cx="5221851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1M-row geolocation import → Python bulk loader via SQLAlchemy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keys in order_reviews → deduplicated before load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Row-count inflation → fixed dim_customers dedup key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Payments/items multi-row per order → aggregated via groupby() before joining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4719" y="1613694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Skills Demonstrated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14719" y="2066528"/>
            <a:ext cx="2530610" cy="2120205"/>
          </a:xfrm>
          <a:prstGeom prst="roundRect">
            <a:avLst>
              <a:gd name="adj" fmla="val 1233"/>
            </a:avLst>
          </a:prstGeom>
          <a:solidFill>
            <a:srgbClr val="EDEBE3"/>
          </a:solidFill>
          <a:ln/>
        </p:spPr>
      </p:sp>
      <p:sp>
        <p:nvSpPr>
          <p:cNvPr id="9" name="Text 7"/>
          <p:cNvSpPr/>
          <p:nvPr/>
        </p:nvSpPr>
        <p:spPr>
          <a:xfrm>
            <a:off x="6488942" y="2240756"/>
            <a:ext cx="21821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88942" y="2673548"/>
            <a:ext cx="2182163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design, normalization, multi-table joins, CASE WHEN logic, data quality validation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005960" y="2066528"/>
            <a:ext cx="2530610" cy="2120205"/>
          </a:xfrm>
          <a:prstGeom prst="roundRect">
            <a:avLst>
              <a:gd name="adj" fmla="val 1233"/>
            </a:avLst>
          </a:prstGeom>
          <a:solidFill>
            <a:srgbClr val="ED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9180184" y="2240756"/>
            <a:ext cx="21821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Python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80184" y="2673548"/>
            <a:ext cx="2182163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(groupby, merge, datetime), missing-value strategy, feature engineering, star-schema modeling, matplotlib EDA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14719" y="4347369"/>
            <a:ext cx="5221851" cy="1584623"/>
          </a:xfrm>
          <a:prstGeom prst="roundRect">
            <a:avLst>
              <a:gd name="adj" fmla="val 1649"/>
            </a:avLst>
          </a:prstGeom>
          <a:solidFill>
            <a:srgbClr val="EDEBE3"/>
          </a:solidFill>
          <a:ln/>
        </p:spPr>
      </p:sp>
      <p:sp>
        <p:nvSpPr>
          <p:cNvPr id="15" name="Text 13"/>
          <p:cNvSpPr/>
          <p:nvPr/>
        </p:nvSpPr>
        <p:spPr>
          <a:xfrm>
            <a:off x="6488942" y="4521597"/>
            <a:ext cx="487340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88942" y="4954389"/>
            <a:ext cx="487340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Star-schema relationships, DAX (measures, DATEADD, filter-context debugging), dashboard design, slicers, cross-filtering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2026-09-22T07:51:34Z</dcterms:created>
  <dcterms:modified xsi:type="dcterms:W3CDTF">2026-09-22T07:51:34Z</dcterms:modified>
</cp:coreProperties>
</file>